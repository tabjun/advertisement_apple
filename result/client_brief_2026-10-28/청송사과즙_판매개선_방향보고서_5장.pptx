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f8b705b8fc4a3a" /><Relationship Type="http://schemas.openxmlformats.org/officeDocument/2006/relationships/extended-properties" Target="/docProps/app.xml" Id="R1e563696f0cc4ce7" /><Relationship Type="http://schemas.openxmlformats.org/officeDocument/2006/relationships/officeDocument" Target="/ppt/presentation.xml" Id="Rbff217c4651948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1dc296506b4877"/>
  </p:sldMasterIdLst>
  <p:notesMasterIdLst>
    <p:notesMasterId xmlns:r="http://schemas.openxmlformats.org/officeDocument/2006/relationships" r:id="R1be66e1c99104f88"/>
  </p:notesMasterIdLst>
  <p:sldIdLst>
    <p:sldId xmlns:r="http://schemas.openxmlformats.org/officeDocument/2006/relationships" id="256" r:id="R6226236a2227491a"/>
    <p:sldId xmlns:r="http://schemas.openxmlformats.org/officeDocument/2006/relationships" id="257" r:id="R472ab964622a4eb3"/>
    <p:sldId xmlns:r="http://schemas.openxmlformats.org/officeDocument/2006/relationships" id="258" r:id="R227c6e756e834e81"/>
    <p:sldId xmlns:r="http://schemas.openxmlformats.org/officeDocument/2006/relationships" id="259" r:id="Rdb0c4faebe8d4700"/>
    <p:sldId xmlns:r="http://schemas.openxmlformats.org/officeDocument/2006/relationships" id="260" r:id="R005e7aedcb1c4c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d0b9fb94834894" /><Relationship Type="http://schemas.openxmlformats.org/officeDocument/2006/relationships/slideMaster" Target="/ppt/slideMasters/slideMaster1.xml" Id="R031dc296506b4877" /><Relationship Type="http://schemas.openxmlformats.org/officeDocument/2006/relationships/notesMaster" Target="/ppt/notesMasters/notesMaster1.xml" Id="R1be66e1c99104f88" /><Relationship Type="http://schemas.openxmlformats.org/officeDocument/2006/relationships/presProps" Target="/ppt/presProps.xml" Id="R8e666e211bc74777" /><Relationship Type="http://schemas.openxmlformats.org/officeDocument/2006/relationships/tableStyles" Target="/ppt/tableStyles.xml" Id="R4fae9c9e3f1d4381" /><Relationship Type="http://schemas.openxmlformats.org/officeDocument/2006/relationships/slide" Target="/ppt/slides/slide1.xml" Id="R6226236a2227491a" /><Relationship Type="http://schemas.openxmlformats.org/officeDocument/2006/relationships/slide" Target="/ppt/slides/slide2.xml" Id="R472ab964622a4eb3" /><Relationship Type="http://schemas.openxmlformats.org/officeDocument/2006/relationships/slide" Target="/ppt/slides/slide3.xml" Id="R227c6e756e834e81" /><Relationship Type="http://schemas.openxmlformats.org/officeDocument/2006/relationships/slide" Target="/ppt/slides/slide4.xml" Id="Rdb0c4faebe8d4700" /><Relationship Type="http://schemas.openxmlformats.org/officeDocument/2006/relationships/slide" Target="/ppt/slides/slide5.xml" Id="R005e7aedcb1c4c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2cf72aa2c944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3df31916e24ba5" /><Relationship Type="http://schemas.openxmlformats.org/officeDocument/2006/relationships/notesMaster" Target="/ppt/notesMasters/notesMaster1.xml" Id="R4901b392115d4a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63cffc1e4c4c36" /><Relationship Type="http://schemas.openxmlformats.org/officeDocument/2006/relationships/notesMaster" Target="/ppt/notesMasters/notesMaster1.xml" Id="R71cc694244a34b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0dfae1e65143c2" /><Relationship Type="http://schemas.openxmlformats.org/officeDocument/2006/relationships/notesMaster" Target="/ppt/notesMasters/notesMaster1.xml" Id="R61a3c5b3157344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fcee586a0e49b7" /><Relationship Type="http://schemas.openxmlformats.org/officeDocument/2006/relationships/notesMaster" Target="/ppt/notesMasters/notesMaster1.xml" Id="R29d4985fe9b440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7909800e5a4a2b" /><Relationship Type="http://schemas.openxmlformats.org/officeDocument/2006/relationships/notesMaster" Target="/ppt/notesMasters/notesMaster1.xml" Id="Rdf8bec80b07b4b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목적: 네이버 사과즙11659930652 순판매량·광고후이익 증가. 필수문자열청송사과 유지. 가격우월 소구 제외.</a:t>
            </a:r>
          </a:p>
          <a:p xmlns:a="http://schemas.openxmlformats.org/drawingml/2006/main">
            <a:r>
              <a:t>사진 원본: result/juice_original_product_2026-10-28.webp</a:t>
            </a:r>
          </a:p>
          <a:p xmlns:a="http://schemas.openxmlformats.org/drawingml/2006/main">
            <a:r>
              <a:t>제품/판매자 근거: result/juice_seller_evidence_2026-10-28.json</a:t>
            </a:r>
          </a:p>
          <a:p xmlns:a="http://schemas.openxmlformats.org/drawingml/2006/main">
            <a:r>
              <a:t>https://smartstore.naver.com/threebrothersfarmm/products/11659930652</a:t>
            </a:r>
          </a:p>
          <a:p xmlns:a="http://schemas.openxmlformats.org/drawingml/2006/main">
            <a:r>
              <a:t>https://www.daangn.com/kr/local-profile/삼형제농원-y1s8f2wxd7fq/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result/juice_keyword_priority_2026-10-28.csv. 사과즙1480+7210,청송사과즙80+630,얼음골사과즙50+420,사과즙50포40+410.</a:t>
            </a:r>
          </a:p>
          <a:p xmlns:a="http://schemas.openxmlformats.org/drawingml/2006/main">
            <a:r>
              <a:t>실제 진단 result/juice_diagnostics_2026-10-28.json: 청송사과 단독·사과주스는 해당조건에서카테고리연관성부족. 제목만으로매칭보장아님.</a:t>
            </a:r>
          </a:p>
          <a:p xmlns:a="http://schemas.openxmlformats.org/drawingml/2006/main">
            <a:r>
              <a:t>쇼핑상품형자동매칭: https://ads.naver.com/help/faq/1433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result/ads_media_2025-11-01_2026-01-31.json. 동기간동일그룹.</a:t>
            </a:r>
          </a:p>
          <a:p xmlns:a="http://schemas.openxmlformats.org/drawingml/2006/main">
            <a:r>
              <a:t>네이버검색8457노출68클릭,외부검색12759노출36클릭,콘텐츠5567노출8클릭. CTR은 합계클릭/합계노출.</a:t>
            </a:r>
          </a:p>
          <a:p xmlns:a="http://schemas.openxmlformats.org/drawingml/2006/main">
            <a:r>
              <a:t>모바일104/112=92.857%. 전환이벤트1은순주문/증분효과아님. 예산재배분아직미집행.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result/juice_title_trial_2026-10-28.json, result/juice_title_trial_saved_2026-10-28.png, result/juice_seller_evidence_2026-10-28.json.</a:t>
            </a:r>
          </a:p>
          <a:p xmlns:a="http://schemas.openxmlformats.org/drawingml/2006/main">
            <a:r>
              <a:t>현재1소재제목24자,운영가능. 새홍보문구/사진업로드아님. 순차관찰형,무작위A/B아님.</a:t>
            </a:r>
          </a:p>
          <a:p xmlns:a="http://schemas.openxmlformats.org/drawingml/2006/main">
            <a:r>
              <a:t>가격39900원,입찰100VAT별도,기존일예산10000유지. 변경전2026-10-21~27전체소재623노출1클릭110원VAT포함0전환. 실적은새제목효과아님.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result/juice_growth_candidates_2026-10-28.json.36개중이번결정에필요한후보만선택.</a:t>
            </a:r>
          </a:p>
          <a:p xmlns:a="http://schemas.openxmlformats.org/drawingml/2006/main">
            <a:r>
              <a:t>G13첫화면,G14사진,G15공정영상,G16FAQ,G03순주문대조,G21재구매,G24당근,G09매체,G18묶음.</a:t>
            </a:r>
          </a:p>
          <a:p xmlns:a="http://schemas.openxmlformats.org/drawingml/2006/main">
            <a:r>
              <a:t>사과즙100포월간검색450회는구성후보근거이며매출예측아님. 원가/재고/1인1개제한확인선행.</a:t>
            </a:r>
          </a:p>
          <a:p xmlns:a="http://schemas.openxmlformats.org/drawingml/2006/main">
            <a:r>
              <a:t>고객메시지발송/예산증액/가격변경/외부게시없음. 스토어개별상품방문수정의확인필요.</a:t>
            </a:r>
          </a:p>
          <a:p xmlns:a="http://schemas.openxmlformats.org/drawingml/2006/main">
            <a:r>
              <a:t>https://help.sell.smartstore.naver.com/faq/content.help?faqId=17791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a9549e880942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4518aacc64b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81d29d3a64c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45a0e55db4c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635f613394d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45b10b2c341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07025D-35E0-4051-AEC0-7C5A8AE8BF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A64E6B-EFEE-4D6D-B882-179FDBEDBE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3B8FABD-C267-4449-AF29-EB5FB9535B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3698FA-1F28-45C9-8700-76768270F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F120E-6DC4-4329-B316-CB4763F2FC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7BBCAF-0FB6-4EAB-9D44-45A21DB34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B6CD92-1277-4FCE-B6C0-457531326B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9B4107-CD7B-47AD-AD8A-B2689279A0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DA93B3-8F80-4C4D-A0B4-607BDDC0B9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53A0DB-60F0-42C3-8B97-876463E992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561809985b4c9c" /><Relationship Type="http://schemas.openxmlformats.org/officeDocument/2006/relationships/slideLayout" Target="/ppt/slideLayouts/slideLayout1.xml" Id="R43d8f4b9935f4ebd" /><Relationship Type="http://schemas.openxmlformats.org/officeDocument/2006/relationships/slideLayout" Target="/ppt/slideLayouts/slideLayout2.xml" Id="Rcf82baa02ba64fdf" /><Relationship Type="http://schemas.openxmlformats.org/officeDocument/2006/relationships/slideLayout" Target="/ppt/slideLayouts/slideLayout3.xml" Id="R0147321df81e4ca7" /><Relationship Type="http://schemas.openxmlformats.org/officeDocument/2006/relationships/slideLayout" Target="/ppt/slideLayouts/slideLayout4.xml" Id="R968d9d90595a416c" /><Relationship Type="http://schemas.openxmlformats.org/officeDocument/2006/relationships/slideLayout" Target="/ppt/slideLayouts/slideLayout5.xml" Id="R7b7952aced5c41cc" /><Relationship Type="http://schemas.openxmlformats.org/officeDocument/2006/relationships/slideLayout" Target="/ppt/slideLayouts/slideLayout6.xml" Id="Ree233ecdcea948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d8f4b9935f4ebd"/>
    <p:sldLayoutId xmlns:r="http://schemas.openxmlformats.org/officeDocument/2006/relationships" id="2147483650" r:id="Rcf82baa02ba64fdf"/>
    <p:sldLayoutId xmlns:r="http://schemas.openxmlformats.org/officeDocument/2006/relationships" id="2147483651" r:id="R0147321df81e4ca7"/>
    <p:sldLayoutId xmlns:r="http://schemas.openxmlformats.org/officeDocument/2006/relationships" id="2147483652" r:id="R968d9d90595a416c"/>
    <p:sldLayoutId xmlns:r="http://schemas.openxmlformats.org/officeDocument/2006/relationships" id="2147483653" r:id="R7b7952aced5c41cc"/>
    <p:sldLayoutId xmlns:r="http://schemas.openxmlformats.org/officeDocument/2006/relationships" id="2147483654" r:id="Ree233ecdcea948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899e37612426b" /><Relationship Type="http://schemas.openxmlformats.org/officeDocument/2006/relationships/image" Target="/ppt/media/image.bin" Id="R366f4e90d1af4510" /><Relationship Type="http://schemas.openxmlformats.org/officeDocument/2006/relationships/notesSlide" Target="/ppt/notesSlides/notesSlide1.xml" Id="R85d1ebfbe76344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61a6746a8e4e6a" /><Relationship Type="http://schemas.openxmlformats.org/officeDocument/2006/relationships/chart" Target="/ppt/slides/charts/chart1.xml" Id="R083e55c3cba2418c" /><Relationship Type="http://schemas.openxmlformats.org/officeDocument/2006/relationships/notesSlide" Target="/ppt/notesSlides/notesSlide2.xml" Id="R2394533c0f9341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554e31585e47a7" /><Relationship Type="http://schemas.openxmlformats.org/officeDocument/2006/relationships/chart" Target="/ppt/slides/charts/chart2.xml" Id="R80c8e12740364bc6" /><Relationship Type="http://schemas.openxmlformats.org/officeDocument/2006/relationships/notesSlide" Target="/ppt/notesSlides/notesSlide3.xml" Id="Rbaaaa1d243744d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5cdaa521f42c4" /><Relationship Type="http://schemas.openxmlformats.org/officeDocument/2006/relationships/notesSlide" Target="/ppt/notesSlides/notesSlide4.xml" Id="Rae7917cbfbdf4d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71d2c93a5048b4" /><Relationship Type="http://schemas.openxmlformats.org/officeDocument/2006/relationships/notesSlide" Target="/ppt/notesSlides/notesSlide5.xml" Id="R19265e2fbd60496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월간 검색 횟수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202620"/>
              </a:solidFill>
              <a:latin typeface="Malgun Gothic"/>
              <a:ea typeface="Malgun Gothic"/>
              <a:cs typeface="Malgun Gothi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월간 PC+모바일 통합검색 수</c:v>
          </c:tx>
          <c:spPr>
            <a:solidFill xmlns:a="http://schemas.openxmlformats.org/drawingml/2006/main">
              <a:srgbClr val="286447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사과즙50포</c:v>
                </c:pt>
                <c:pt idx="1">
                  <c:v>얼음골사과즙</c:v>
                </c:pt>
                <c:pt idx="2">
                  <c:v>청송사과즙</c:v>
                </c:pt>
                <c:pt idx="3">
                  <c:v>사과즙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450</c:v>
                </c:pt>
                <c:pt idx="1">
                  <c:v>470</c:v>
                </c:pt>
                <c:pt idx="2">
                  <c:v>710</c:v>
                </c:pt>
                <c:pt idx="3">
                  <c:v>8690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02620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00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FD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55F59"/>
                    </a:solidFill>
                    <a:latin typeface="Malgun Gothic"/>
                    <a:ea typeface="Malgun Gothic"/>
                    <a:cs typeface="Malgun Gothic"/>
                  </a:rPr>
                  <a:t>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55F59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DF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광고 클릭률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202620"/>
              </a:solidFill>
              <a:latin typeface="Malgun Gothic"/>
              <a:ea typeface="Malgun Gothic"/>
              <a:cs typeface="Malgun Gothi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클릭수÷노출수</c:v>
          </c:tx>
          <c:spPr>
            <a:solidFill xmlns:a="http://schemas.openxmlformats.org/drawingml/2006/main">
              <a:srgbClr val="286447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콘텐츠</c:v>
                </c:pt>
                <c:pt idx="1">
                  <c:v>외부 검색</c:v>
                </c:pt>
                <c:pt idx="2">
                  <c:v>네이버 검색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0.001437</c:v>
                </c:pt>
                <c:pt idx="1">
                  <c:v>0.002822</c:v>
                </c:pt>
                <c:pt idx="2">
                  <c:v>0.008041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02620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0.0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FD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55F59"/>
                    </a:solidFill>
                    <a:latin typeface="Malgun Gothic"/>
                    <a:ea typeface="Malgun Gothic"/>
                    <a:cs typeface="Malgun Gothic"/>
                  </a:rPr>
                  <a:t>광고 노출 중 클릭한 비율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55F59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9DF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1A74BDA1-E152-4E3E-A2F0-AE2BA440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청송사과즙의 제품과 구매 이유를</a:t>
            </a:r>
          </a:p>
          <a:p xmlns:a="http://schemas.openxmlformats.org/drawingml/2006/main">
            <a: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분명하게 전달합니다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E480509C-F0CD-495D-94D0-552AC76D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삼형제농원 사과즙 판매 개선  ·  2026.10.28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75CDBFE-834C-4ECE-B44F-6C5ADEED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1 / 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EEE1E-0383-4570-BEA6-71910202B1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f4e90d1af4510"/>
          <a:stretch xmlns:a="http://schemas.openxmlformats.org/drawingml/2006/main"/>
        </p:blipFill>
        <p:spPr>
          <a:xfrm xmlns:a="http://schemas.openxmlformats.org/drawingml/2006/main">
            <a:off x="873919" y="1771650"/>
            <a:ext cx="2614613" cy="3486150"/>
          </a:xfrm>
          <a:prstGeom xmlns:a="http://schemas.openxmlformats.org/drawingml/2006/main" prst="rect">
            <a:avLst/>
          </a:prstGeom>
        </p:spPr>
      </p:pic>
      <p:sp>
        <p:nvSpPr>
          <p:cNvPr id="5" name="goal">
            <a:extLst xmlns:a="http://schemas.openxmlformats.org/drawingml/2006/main">
              <a:ext uri="{FF2B5EF4-FFF2-40B4-BE49-F238E27FC236}">
                <a16:creationId xmlns:a16="http://schemas.microsoft.com/office/drawing/2014/main" id="{E2959854-B21C-4259-8629-C59E8FC5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2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2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2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2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2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2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2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2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2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rPr>
              <a:t>목표: 실제 판매량과 남는 금액 증가</a:t>
            </a:r>
          </a:p>
        </p:txBody>
      </p:sp>
      <p:sp>
        <p:nvSpPr>
          <p:cNvPr id="6" name="item-0">
            <a:extLst xmlns:a="http://schemas.openxmlformats.org/drawingml/2006/main">
              <a:ext uri="{FF2B5EF4-FFF2-40B4-BE49-F238E27FC236}">
                <a16:creationId xmlns:a16="http://schemas.microsoft.com/office/drawing/2014/main" id="{B1297854-2C12-409D-83DA-2C45A6D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714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- 청송 얼음골에서 사과를 재배하는 농원 소개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E79349BA-31CE-435F-A0E2-3B4565C1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05200"/>
            <a:ext cx="714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- 사과 100%와 실제 제품명 ‘사과하나’ 연결</a:t>
            </a:r>
          </a:p>
        </p:txBody>
      </p:sp>
      <p:sp>
        <p:nvSpPr>
          <p:cNvPr id="8" name="item-2">
            <a:extLst xmlns:a="http://schemas.openxmlformats.org/drawingml/2006/main">
              <a:ext uri="{FF2B5EF4-FFF2-40B4-BE49-F238E27FC236}">
                <a16:creationId xmlns:a16="http://schemas.microsoft.com/office/drawing/2014/main" id="{FA84F07E-7B09-4A35-818E-E245538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24350"/>
            <a:ext cx="714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- 120ml 한 포, 50포 구성을 쉽게 설명</a:t>
            </a:r>
          </a:p>
        </p:txBody>
      </p:sp>
      <p:sp>
        <p:nvSpPr>
          <p:cNvPr id="9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E6905057-99BF-49D5-98BE-0EC934FA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그림 1. 현재 판매 상품의 실제 파우치</a:t>
            </a:r>
          </a:p>
        </p:txBody>
      </p:sp>
      <p:sp>
        <p:nvSpPr>
          <p:cNvPr id="10" name="figure-source">
            <a:extLst xmlns:a="http://schemas.openxmlformats.org/drawingml/2006/main">
              <a:ext uri="{FF2B5EF4-FFF2-40B4-BE49-F238E27FC236}">
                <a16:creationId xmlns:a16="http://schemas.microsoft.com/office/drawing/2014/main" id="{EBFAC45E-B487-4399-8C09-73CFC87D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출처: 네이버 상품사진·원재료 표시, 농원 소개. 2026.10.28 확인.</a:t>
            </a:r>
          </a:p>
        </p:txBody>
      </p:sp>
      <p:sp>
        <p:nvSpPr>
          <p:cNvPr id="11" name="figure-limit">
            <a:extLst xmlns:a="http://schemas.openxmlformats.org/drawingml/2006/main">
              <a:ext uri="{FF2B5EF4-FFF2-40B4-BE49-F238E27FC236}">
                <a16:creationId xmlns:a16="http://schemas.microsoft.com/office/drawing/2014/main" id="{3556C37B-EEE9-48ED-9F87-5CDE00D7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새 출고 제품의 원재료·포장·제조일은 판매자가 최종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090096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6484406D-3DE6-4E62-9661-53E0BE08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청송·얼음골을 사과즙 검색과 연결합니다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EF1DF644-F95C-46CC-8E33-0A1103F8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삼형제농원 사과즙 판매 개선  ·  2026.10.28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6E9E1BE-68D1-4EED-AE5F-E256B66C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2 / 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511FBC4-2A6E-4069-B563-C5DFC56126CF}"/>
              </a:ext>
            </a:extLst>
          </p:cNvPr>
          <p:cNvGraphicFramePr/>
          <p:nvPr/>
        </p:nvGraphicFramePr>
        <p:xfrm>
          <a:off xmlns:a="http://schemas.openxmlformats.org/drawingml/2006/main" x="552450" y="1562100"/>
          <a:ext xmlns:a="http://schemas.openxmlformats.org/drawingml/2006/main" cx="71913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3e55c3cba2418c"/>
          </a:graphicData>
        </a:graphic>
      </p:graphicFrame>
      <p:sp>
        <p:nvSpPr>
          <p:cNvPr id="5" name="legend">
            <a:extLst xmlns:a="http://schemas.openxmlformats.org/drawingml/2006/main">
              <a:ext uri="{FF2B5EF4-FFF2-40B4-BE49-F238E27FC236}">
                <a16:creationId xmlns:a16="http://schemas.microsoft.com/office/drawing/2014/main" id="{515A08C0-C28F-4BFD-A2FE-C5FC09E7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4782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범례: 초록 막대 = 월간 검색 횟수</a:t>
            </a:r>
          </a:p>
        </p:txBody>
      </p:sp>
      <p:sp>
        <p:nvSpPr>
          <p:cNvPr id="6" name="item-0">
            <a:extLst xmlns:a="http://schemas.openxmlformats.org/drawingml/2006/main">
              <a:ext uri="{FF2B5EF4-FFF2-40B4-BE49-F238E27FC236}">
                <a16:creationId xmlns:a16="http://schemas.microsoft.com/office/drawing/2014/main" id="{091E184D-2F34-4B5C-BA02-39F758A6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3381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- 상품명과 광고에</a:t>
            </a:r>
          </a:p>
          <a:p xmlns:a="http://schemas.openxmlformats.org/drawingml/2006/main">
            <a: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청송사과즙·얼음골을 연결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72793638-6F00-46D2-80C0-045FC090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38575"/>
            <a:ext cx="3381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- ‘청송사과’ 단독보다</a:t>
            </a:r>
          </a:p>
          <a:p xmlns:a="http://schemas.openxmlformats.org/drawingml/2006/main">
            <a: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사과즙이라는 제품을 명확히</a:t>
            </a:r>
          </a:p>
        </p:txBody>
      </p:sp>
      <p:sp>
        <p:nvSpPr>
          <p:cNvPr id="8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84FEC9F0-D35E-4365-B72F-8EBBD942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그림 2. 주요 검색어의 월간 검색 횟수</a:t>
            </a:r>
          </a:p>
        </p:txBody>
      </p:sp>
      <p:sp>
        <p:nvSpPr>
          <p:cNvPr id="9" name="figure-source">
            <a:extLst xmlns:a="http://schemas.openxmlformats.org/drawingml/2006/main">
              <a:ext uri="{FF2B5EF4-FFF2-40B4-BE49-F238E27FC236}">
                <a16:creationId xmlns:a16="http://schemas.microsoft.com/office/drawing/2014/main" id="{B42B1509-47B7-4875-9DE4-6116CCE1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출처: 네이버 키워드도구, 2026.10.28 조회. PC·모바일 합계.</a:t>
            </a:r>
          </a:p>
        </p:txBody>
      </p:sp>
      <p:sp>
        <p:nvSpPr>
          <p:cNvPr id="10" name="figure-limit">
            <a:extLst xmlns:a="http://schemas.openxmlformats.org/drawingml/2006/main">
              <a:ext uri="{FF2B5EF4-FFF2-40B4-BE49-F238E27FC236}">
                <a16:creationId xmlns:a16="http://schemas.microsoft.com/office/drawing/2014/main" id="{FED37387-8FB2-4470-B602-AA865ADD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검색 횟수는 구매자·주문 수가 아닙니다. 검색어 간 중복을 합산하지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449852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E1188C4-2566-494D-9FB1-063F1E2D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광고가 보이는 곳마다 클릭 반응이 달랐습니다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ED543624-D186-4F37-87EC-C8D8653A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삼형제농원 사과즙 판매 개선  ·  2026.10.28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AF014FC-5E77-4594-B201-13D1B06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3 / 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FB4CA14-87E3-428D-ABC0-1CC48A2471B3}"/>
              </a:ext>
            </a:extLst>
          </p:cNvPr>
          <p:cNvGraphicFramePr/>
          <p:nvPr/>
        </p:nvGraphicFramePr>
        <p:xfrm>
          <a:off xmlns:a="http://schemas.openxmlformats.org/drawingml/2006/main" x="552450" y="1562100"/>
          <a:ext xmlns:a="http://schemas.openxmlformats.org/drawingml/2006/main" cx="71913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c8e12740364bc6"/>
          </a:graphicData>
        </a:graphic>
      </p:graphicFrame>
      <p:sp>
        <p:nvSpPr>
          <p:cNvPr id="5" name="legend">
            <a:extLst xmlns:a="http://schemas.openxmlformats.org/drawingml/2006/main">
              <a:ext uri="{FF2B5EF4-FFF2-40B4-BE49-F238E27FC236}">
                <a16:creationId xmlns:a16="http://schemas.microsoft.com/office/drawing/2014/main" id="{1CADC556-9408-42F3-A303-A62FD7D1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478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범례: 초록 막대 = 클릭률</a:t>
            </a:r>
          </a:p>
        </p:txBody>
      </p:sp>
      <p:sp>
        <p:nvSpPr>
          <p:cNvPr id="6" name="definition">
            <a:extLst xmlns:a="http://schemas.openxmlformats.org/drawingml/2006/main">
              <a:ext uri="{FF2B5EF4-FFF2-40B4-BE49-F238E27FC236}">
                <a16:creationId xmlns:a16="http://schemas.microsoft.com/office/drawing/2014/main" id="{9457BF97-3DF0-451E-B6AA-336D2821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19325"/>
            <a:ext cx="333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클릭률: 광고가 보인 횟수 중</a:t>
            </a:r>
          </a:p>
          <a:p xmlns:a="http://schemas.openxmlformats.org/drawingml/2006/main">
            <a: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클릭한 비율</a:t>
            </a:r>
          </a:p>
        </p:txBody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BBE19C6D-620A-4B97-B63F-A151B343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992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- 네이버 검색·외부 검색·</a:t>
            </a:r>
          </a:p>
          <a:p xmlns:a="http://schemas.openxmlformats.org/drawingml/2006/main">
            <a: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콘텐츠를 나누어 확인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E47FC55-4E66-43F0-8F4E-8EE304C3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8147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- 모바일 클릭 92.9%</a:t>
            </a:r>
          </a:p>
          <a:p xmlns:a="http://schemas.openxmlformats.org/drawingml/2006/main">
            <a: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제품사진·첫 화면을 우선 점검</a:t>
            </a:r>
          </a:p>
        </p:txBody>
      </p:sp>
      <p:sp>
        <p:nvSpPr>
          <p:cNvPr id="9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613E7EE2-3844-4F33-8076-5C10315B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그림 3. 같은 기간의 매체별 광고 클릭률</a:t>
            </a:r>
          </a:p>
        </p:txBody>
      </p:sp>
      <p:sp>
        <p:nvSpPr>
          <p:cNvPr id="10" name="figure-source">
            <a:extLst xmlns:a="http://schemas.openxmlformats.org/drawingml/2006/main">
              <a:ext uri="{FF2B5EF4-FFF2-40B4-BE49-F238E27FC236}">
                <a16:creationId xmlns:a16="http://schemas.microsoft.com/office/drawing/2014/main" id="{6D614273-BFFE-4C47-B4FA-E9116A2F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출처: 광고주센터, 2025.11.01~2026.01.31. 네이버 검색 68클릭, 외부 36클릭, 콘텐츠 8클릭.</a:t>
            </a:r>
          </a:p>
        </p:txBody>
      </p:sp>
      <p:sp>
        <p:nvSpPr>
          <p:cNvPr id="11" name="figure-limit">
            <a:extLst xmlns:a="http://schemas.openxmlformats.org/drawingml/2006/main">
              <a:ext uri="{FF2B5EF4-FFF2-40B4-BE49-F238E27FC236}">
                <a16:creationId xmlns:a16="http://schemas.microsoft.com/office/drawing/2014/main" id="{7145301D-0C97-4C6E-A8DD-C109E6CA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광고 전환은 총 1건으로 판매 효과의 우열은 아직 판단하지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576660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CC54AECC-3210-4B56-9F71-7200B2A6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광고 제목은 적용했고, 판매 효과는 확인 중입니다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4B1F569E-9B2D-451A-86BB-14B02264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삼형제농원 사과즙 판매 개선  ·  2026.10.28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0AE4716-90C0-4E34-A3EE-28B0E222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4 / 5</a:t>
            </a:r>
          </a:p>
        </p:txBody>
      </p:sp>
      <p:sp>
        <p:nvSpPr>
          <p:cNvPr id="4" name="applied">
            <a:extLst xmlns:a="http://schemas.openxmlformats.org/drawingml/2006/main">
              <a:ext uri="{FF2B5EF4-FFF2-40B4-BE49-F238E27FC236}">
                <a16:creationId xmlns:a16="http://schemas.microsoft.com/office/drawing/2014/main" id="{83100B4F-6761-41F3-A004-D90E3071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rPr>
              <a:t>적용 완료</a:t>
            </a:r>
          </a:p>
        </p:txBody>
      </p:sp>
      <p:sp>
        <p:nvSpPr>
          <p:cNvPr id="5" name="current-title">
            <a:extLst xmlns:a="http://schemas.openxmlformats.org/drawingml/2006/main">
              <a:ext uri="{FF2B5EF4-FFF2-40B4-BE49-F238E27FC236}">
                <a16:creationId xmlns:a16="http://schemas.microsoft.com/office/drawing/2014/main" id="{431589F1-2DCF-4A3B-A883-D5BCDBB5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43075"/>
            <a:ext cx="866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청송사과즙 얼음골 사과하나 120ml 50포</a:t>
            </a:r>
          </a:p>
        </p:txBody>
      </p:sp>
      <p:sp>
        <p:nvSpPr>
          <p:cNvPr id="6" name="applied-detail">
            <a:extLst xmlns:a="http://schemas.openxmlformats.org/drawingml/2006/main">
              <a:ext uri="{FF2B5EF4-FFF2-40B4-BE49-F238E27FC236}">
                <a16:creationId xmlns:a16="http://schemas.microsoft.com/office/drawing/2014/main" id="{58358C1C-00B7-425F-BC83-2D1B5E3E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10월 28일 저장 후 ‘운영 가능’ 확인</a:t>
            </a:r>
          </a:p>
        </p:txBody>
      </p:sp>
      <p:sp>
        <p:nvSpPr>
          <p:cNvPr id="7" name="prepared">
            <a:extLst xmlns:a="http://schemas.openxmlformats.org/drawingml/2006/main">
              <a:ext uri="{FF2B5EF4-FFF2-40B4-BE49-F238E27FC236}">
                <a16:creationId xmlns:a16="http://schemas.microsoft.com/office/drawing/2014/main" id="{517DFD20-8F62-4DCD-BE09-CE95BD7E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준비 완료</a:t>
            </a:r>
          </a:p>
        </p:txBody>
      </p:sp>
      <p:sp>
        <p:nvSpPr>
          <p:cNvPr id="8" name="prepared-detail">
            <a:extLst xmlns:a="http://schemas.openxmlformats.org/drawingml/2006/main">
              <a:ext uri="{FF2B5EF4-FFF2-40B4-BE49-F238E27FC236}">
                <a16:creationId xmlns:a16="http://schemas.microsoft.com/office/drawing/2014/main" id="{C7F725E4-FBB1-4917-9007-9837EC30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28975"/>
            <a:ext cx="8667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산지·사과100% 중심 광고 원고</a:t>
            </a:r>
          </a:p>
          <a:p xmlns:a="http://schemas.openxmlformats.org/drawingml/2006/main">
            <a: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제품사진 구성안, 공정 영상 촬영안, 상세 설명 초안</a:t>
            </a:r>
          </a:p>
        </p:txBody>
      </p:sp>
      <p:sp>
        <p:nvSpPr>
          <p:cNvPr id="9" name="pending">
            <a:extLst xmlns:a="http://schemas.openxmlformats.org/drawingml/2006/main">
              <a:ext uri="{FF2B5EF4-FFF2-40B4-BE49-F238E27FC236}">
                <a16:creationId xmlns:a16="http://schemas.microsoft.com/office/drawing/2014/main" id="{10F76C41-E806-47F5-A2FE-1B224AEF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다음 확인</a:t>
            </a:r>
          </a:p>
        </p:txBody>
      </p:sp>
      <p:sp>
        <p:nvSpPr>
          <p:cNvPr id="10" name="pending-detail">
            <a:extLst xmlns:a="http://schemas.openxmlformats.org/drawingml/2006/main">
              <a:ext uri="{FF2B5EF4-FFF2-40B4-BE49-F238E27FC236}">
                <a16:creationId xmlns:a16="http://schemas.microsoft.com/office/drawing/2014/main" id="{8E5F8BBF-8ABC-42B3-934A-6046FC74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24375"/>
            <a:ext cx="866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새 제목의 실제 노출·클릭과 주문 변화</a:t>
            </a:r>
          </a:p>
        </p:txBody>
      </p:sp>
      <p:sp>
        <p:nvSpPr>
          <p:cNvPr id="11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AE133F1C-1D38-4717-B0A5-B87FC4BE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표 1. 현재 적용한 작업과 준비 중인 작업</a:t>
            </a:r>
          </a:p>
        </p:txBody>
      </p:sp>
      <p:sp>
        <p:nvSpPr>
          <p:cNvPr id="12" name="figure-source">
            <a:extLst xmlns:a="http://schemas.openxmlformats.org/drawingml/2006/main">
              <a:ext uri="{FF2B5EF4-FFF2-40B4-BE49-F238E27FC236}">
                <a16:creationId xmlns:a16="http://schemas.microsoft.com/office/drawing/2014/main" id="{B9C3E921-8FCE-4AAD-BA5C-B5D679F7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기준: 2026.10.28 저장 기록. 상태명은 완료 범위를 구분합니다.</a:t>
            </a:r>
          </a:p>
        </p:txBody>
      </p:sp>
      <p:sp>
        <p:nvSpPr>
          <p:cNvPr id="13" name="figure-limit">
            <a:extLst xmlns:a="http://schemas.openxmlformats.org/drawingml/2006/main">
              <a:ext uri="{FF2B5EF4-FFF2-40B4-BE49-F238E27FC236}">
                <a16:creationId xmlns:a16="http://schemas.microsoft.com/office/drawing/2014/main" id="{9ED8F1ED-2E93-40F3-8C40-248E0F31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제목 적용은 확인했으며, 판매 증가가 입증된 단계는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961329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79EE0D7A-EB10-4660-90B0-F411156F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상품 설명을 정리하고, 실제 판매로 판단합니다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DD87114E-8369-41D3-87BA-B8861E19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삼형제농원 사과즙 판매 개선  ·  2026.10.28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EDDE7C7-68A1-493E-B963-A2CB55D4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5 / 5</a:t>
            </a:r>
          </a:p>
        </p:txBody>
      </p:sp>
      <p:sp>
        <p:nvSpPr>
          <p:cNvPr id="4" name="phase-0">
            <a:extLst xmlns:a="http://schemas.openxmlformats.org/drawingml/2006/main">
              <a:ext uri="{FF2B5EF4-FFF2-40B4-BE49-F238E27FC236}">
                <a16:creationId xmlns:a16="http://schemas.microsoft.com/office/drawing/2014/main" id="{8B037EB8-EF1F-471C-9F17-E5B74D0D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rPr>
              <a:t>지금</a:t>
            </a:r>
          </a:p>
        </p:txBody>
      </p:sp>
      <p:sp>
        <p:nvSpPr>
          <p:cNvPr id="5" name="phase-content-0">
            <a:extLst xmlns:a="http://schemas.openxmlformats.org/drawingml/2006/main">
              <a:ext uri="{FF2B5EF4-FFF2-40B4-BE49-F238E27FC236}">
                <a16:creationId xmlns:a16="http://schemas.microsoft.com/office/drawing/2014/main" id="{45313EEA-E467-4309-BEF3-B00965CD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95450"/>
            <a:ext cx="847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제품사진·원재료·공정·출고 안내 정리</a:t>
            </a:r>
          </a:p>
        </p:txBody>
      </p:sp>
      <p:sp>
        <p:nvSpPr>
          <p:cNvPr id="6" name="phase-1">
            <a:extLst xmlns:a="http://schemas.openxmlformats.org/drawingml/2006/main">
              <a:ext uri="{FF2B5EF4-FFF2-40B4-BE49-F238E27FC236}">
                <a16:creationId xmlns:a16="http://schemas.microsoft.com/office/drawing/2014/main" id="{E836D232-3C15-43CF-9171-138111E0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스토어 연결 후</a:t>
            </a:r>
          </a:p>
        </p:txBody>
      </p:sp>
      <p:sp>
        <p:nvSpPr>
          <p:cNvPr id="7" name="phase-content-1">
            <a:extLst xmlns:a="http://schemas.openxmlformats.org/drawingml/2006/main">
              <a:ext uri="{FF2B5EF4-FFF2-40B4-BE49-F238E27FC236}">
                <a16:creationId xmlns:a16="http://schemas.microsoft.com/office/drawing/2014/main" id="{2DB087CC-6969-4879-BDEC-058A4D0E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33650"/>
            <a:ext cx="847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주문·취소·반품·재구매 내역 분석</a:t>
            </a:r>
          </a:p>
        </p:txBody>
      </p:sp>
      <p:sp>
        <p:nvSpPr>
          <p:cNvPr id="8" name="phase-2">
            <a:extLst xmlns:a="http://schemas.openxmlformats.org/drawingml/2006/main">
              <a:ext uri="{FF2B5EF4-FFF2-40B4-BE49-F238E27FC236}">
                <a16:creationId xmlns:a16="http://schemas.microsoft.com/office/drawing/2014/main" id="{CFBE7B53-2081-4911-A08D-BDDAF8CB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조건 확인 후</a:t>
            </a:r>
          </a:p>
        </p:txBody>
      </p:sp>
      <p:sp>
        <p:nvSpPr>
          <p:cNvPr id="9" name="phase-content-2">
            <a:extLst xmlns:a="http://schemas.openxmlformats.org/drawingml/2006/main">
              <a:ext uri="{FF2B5EF4-FFF2-40B4-BE49-F238E27FC236}">
                <a16:creationId xmlns:a16="http://schemas.microsoft.com/office/drawing/2014/main" id="{8C219993-B086-4667-A127-5AEBBE34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847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당근 단골 소식, 광고 지면 비교, 100포 묶음 검토</a:t>
            </a:r>
          </a:p>
        </p:txBody>
      </p:sp>
      <p:sp>
        <p:nvSpPr>
          <p:cNvPr id="10" name="seller-input">
            <a:extLst xmlns:a="http://schemas.openxmlformats.org/drawingml/2006/main">
              <a:ext uri="{FF2B5EF4-FFF2-40B4-BE49-F238E27FC236}">
                <a16:creationId xmlns:a16="http://schemas.microsoft.com/office/drawing/2014/main" id="{3E7C4E8D-525E-4851-8963-ED7200A0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판매자가 확인할 것</a:t>
            </a:r>
          </a:p>
        </p:txBody>
      </p:sp>
      <p:sp>
        <p:nvSpPr>
          <p:cNvPr id="11" name="seller-input-detail">
            <a:extLst xmlns:a="http://schemas.openxmlformats.org/drawingml/2006/main">
              <a:ext uri="{FF2B5EF4-FFF2-40B4-BE49-F238E27FC236}">
                <a16:creationId xmlns:a16="http://schemas.microsoft.com/office/drawing/2014/main" id="{CE7FD73C-9F76-4D5A-AC02-87858772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672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620"/>
                </a:solidFill>
                <a:latin typeface="Malgun Gothic"/>
                <a:ea typeface="Malgun Gothic"/>
                <a:cs typeface="Malgun Gothic"/>
              </a:rPr>
              <a:t>출고 가능일 / 새 제품 라벨 / 실제 비용 / 공급 수량</a:t>
            </a:r>
          </a:p>
        </p:txBody>
      </p:sp>
      <p:sp>
        <p:nvSpPr>
          <p:cNvPr id="12" name="decision">
            <a:extLst xmlns:a="http://schemas.openxmlformats.org/drawingml/2006/main">
              <a:ext uri="{FF2B5EF4-FFF2-40B4-BE49-F238E27FC236}">
                <a16:creationId xmlns:a16="http://schemas.microsoft.com/office/drawing/2014/main" id="{50319E31-8F3B-4D32-98F8-F252C121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86447"/>
                </a:solidFill>
                <a:latin typeface="Malgun Gothic"/>
                <a:ea typeface="Malgun Gothic"/>
                <a:cs typeface="Malgun Gothic"/>
              </a:rPr>
              <a:t>판단 기준: 취소·반품을 뺀 판매량 + 광고비까지 빼고 남는 금액</a:t>
            </a:r>
          </a:p>
        </p:txBody>
      </p:sp>
      <p:sp>
        <p:nvSpPr>
          <p:cNvPr id="13" name="scope">
            <a:extLst xmlns:a="http://schemas.openxmlformats.org/drawingml/2006/main">
              <a:ext uri="{FF2B5EF4-FFF2-40B4-BE49-F238E27FC236}">
                <a16:creationId xmlns:a16="http://schemas.microsoft.com/office/drawing/2014/main" id="{05DE4525-9F07-4F3B-B5BC-35B29E55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F59"/>
                </a:solidFill>
                <a:latin typeface="Malgun Gothic"/>
                <a:ea typeface="Malgun Gothic"/>
                <a:cs typeface="Malgun Gothic"/>
              </a:rPr>
              <a:t>네이버 판매와 쿠팡·당근 판매는 구분해서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50974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2026-10-28T11:58:30.9440000Z</dcterms:created>
  <dcterms:modified xsi:type="dcterms:W3CDTF">2026-10-28T11:58:30.9450000Z</dcterms:modified>
</coreProperties>
</file>